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80" r:id="rId3"/>
    <p:sldId id="281" r:id="rId4"/>
    <p:sldId id="272" r:id="rId5"/>
    <p:sldId id="258" r:id="rId6"/>
    <p:sldId id="276" r:id="rId7"/>
    <p:sldId id="277" r:id="rId8"/>
    <p:sldId id="273" r:id="rId9"/>
    <p:sldId id="262" r:id="rId10"/>
    <p:sldId id="266" r:id="rId11"/>
    <p:sldId id="275" r:id="rId12"/>
    <p:sldId id="263" r:id="rId13"/>
    <p:sldId id="279" r:id="rId14"/>
    <p:sldId id="26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osh Kumar" userId="bada0872730a5c28" providerId="LiveId" clId="{800C49A5-3BF3-4F53-B235-C48E2453D682}"/>
    <pc:docChg chg="modSld">
      <pc:chgData name="Santosh Kumar" userId="bada0872730a5c28" providerId="LiveId" clId="{800C49A5-3BF3-4F53-B235-C48E2453D682}" dt="2025-04-23T06:49:01.691" v="6" actId="20577"/>
      <pc:docMkLst>
        <pc:docMk/>
      </pc:docMkLst>
      <pc:sldChg chg="modSp mod">
        <pc:chgData name="Santosh Kumar" userId="bada0872730a5c28" providerId="LiveId" clId="{800C49A5-3BF3-4F53-B235-C48E2453D682}" dt="2025-04-23T06:49:01.691" v="6" actId="20577"/>
        <pc:sldMkLst>
          <pc:docMk/>
          <pc:sldMk cId="40717607" sldId="282"/>
        </pc:sldMkLst>
        <pc:spChg chg="mod">
          <ac:chgData name="Santosh Kumar" userId="bada0872730a5c28" providerId="LiveId" clId="{800C49A5-3BF3-4F53-B235-C48E2453D682}" dt="2025-04-23T06:49:01.691" v="6" actId="20577"/>
          <ac:spMkLst>
            <pc:docMk/>
            <pc:sldMk cId="40717607" sldId="282"/>
            <ac:spMk id="3" creationId="{95560CE6-353A-8E78-1D8B-CBF098731E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9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98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5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2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65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08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08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6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0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2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32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E43C5-AB72-48BA-8102-CED3075DF9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33C80-4870-4396-BDB1-F4C755C3F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2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br>
              <a:rPr lang="en-US" sz="2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IOT-BASED SMART IRRIGATION AND PLANT DISEASE DETECTION FOR SUSTAINABLE FARMING</a:t>
            </a:r>
            <a:b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9900-FC24-2D81-3461-4C588884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B65513-6E60-BABA-4914-F812524FB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75354"/>
            <a:ext cx="10393540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soil moisture, water level, and temperature.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irrigation and fertilizer control for optimal crop growth.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to detect diseases in rice leaves.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recommendations based on identified diseases.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sustainable agriculture by reducing resource wastage and human effort.</a:t>
            </a:r>
          </a:p>
        </p:txBody>
      </p:sp>
    </p:spTree>
    <p:extLst>
      <p:ext uri="{BB962C8B-B14F-4D97-AF65-F5344CB8AC3E}">
        <p14:creationId xmlns:p14="http://schemas.microsoft.com/office/powerpoint/2010/main" val="61959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7D28-5637-AC92-9CE9-55AAC6FA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8492C6-5940-A9CE-B40F-26D1E1E6E7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0720"/>
            <a:ext cx="10852355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modern agricultural challenges such as population growth, climate change, and resource scarcity.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traditional farming methods with automated, tech-driven precision farming techniques.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irrigation and fertilization based on real-time soil and environmental data.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machine learning to detect diseases in rice leaves at an early stage.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disease-specific fertilizer recommendations to improve treatment and crop yield.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efficiency and sustainability by minimizing manual labor and optimizing resource usage.</a:t>
            </a:r>
          </a:p>
        </p:txBody>
      </p:sp>
    </p:spTree>
    <p:extLst>
      <p:ext uri="{BB962C8B-B14F-4D97-AF65-F5344CB8AC3E}">
        <p14:creationId xmlns:p14="http://schemas.microsoft.com/office/powerpoint/2010/main" val="265692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2101"/>
            <a:ext cx="10515600" cy="8254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709" y="1223706"/>
            <a:ext cx="10832690" cy="5194300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automated irrigation using real-time soil and water level data.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precision fertilizer application through IoT-enabled environmental monitoring.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machine learning for early crop disease detection and smart recommendations.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resource efficiency by minimizing water and fertilizer waste via IoT sensors.</a:t>
            </a:r>
          </a:p>
        </p:txBody>
      </p:sp>
    </p:spTree>
    <p:extLst>
      <p:ext uri="{BB962C8B-B14F-4D97-AF65-F5344CB8AC3E}">
        <p14:creationId xmlns:p14="http://schemas.microsoft.com/office/powerpoint/2010/main" val="180644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5901"/>
            <a:ext cx="10972800" cy="6349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465284"/>
              </p:ext>
            </p:extLst>
          </p:nvPr>
        </p:nvGraphicFramePr>
        <p:xfrm>
          <a:off x="635000" y="968586"/>
          <a:ext cx="10947400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1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6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5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Agriculture Robot for Seeding Function and Leaf Detection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Lokanandam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 K S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Ganesh,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Mohit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Raate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Nithin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 N,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Pavan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G, and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Prof.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Nithya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Engineering Research &amp; Technology (IJERT), Vol. 9, No. 08, August 2020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presents a precision agriculture robot designed to automate seeding and leaf detection. The robot integrates sensors and machine learning techniques to identify plant health and seed placement with precision, reducing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labor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costs and improving crop yields.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is focused mainly on specific tasks like seeding and leaf detection, and its scalability and adaptability to different crop types are not thoroughly addressed.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 and Comparative Analysis of On-Chip Sigma Delta ADC for Signal Processing Applications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P.A.H. Vardhini, M.L. Makkena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International Journal of Speech Technology, Vol. 24, 2021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Focuses on signal processing using Sigma Delta ADC in IoT systems, with potential agricultural applications in sensor data acquisition and processing.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work is more hardware-centric and does not address complete smart farming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0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5901"/>
            <a:ext cx="10972800" cy="6349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236421"/>
              </p:ext>
            </p:extLst>
          </p:nvPr>
        </p:nvGraphicFramePr>
        <p:xfrm>
          <a:off x="635000" y="968586"/>
          <a:ext cx="10947400" cy="441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1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6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5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IoT-Enabled Smart Irrigation System Using Soil Moisture and Weather Prediction for Sustainable Agriculture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T. Ramesh, A. Verma, P. Srinivasan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International Journal of Electrical and Computer Engineering (IJECE), Vol. 12, No. 4, August 2022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This study introduces an IoT-enabled smart irrigation system that combines soil moisture sensor data with real-time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weathjer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forecasting APIs to optimize irrigation cycles. It also allows remote monitoring via a mobile app interface.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Does not include plant disease detection or image analysis capabilities; focuses only on irrigation efficiency.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IoT-Based Smart Farming System for Disease Detection and Automatic Irrigation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R. Meenakshi, V. Rajendran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International Journal of Advanced Computer Science and Applications (IJACSA), Vol. 14, No. 6, 2023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Implements IoT sensors to monitor soil and environment conditions, paired with a camera module for plant disease detection using machine learning algorithms.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scalability for large farms, and model accuracy depends heavily on image quality.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5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5901"/>
            <a:ext cx="10972800" cy="6349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206175"/>
              </p:ext>
            </p:extLst>
          </p:nvPr>
        </p:nvGraphicFramePr>
        <p:xfrm>
          <a:off x="635000" y="968586"/>
          <a:ext cx="1094740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1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6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5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723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Learning-Driven IoT Framework for Early Detection of Plant Diseases in Rice Farming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N. Sharma, K. Anand, M. Thomas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Computers and Electronics in Agriculture, April 2024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CNN models on image data collected via IoT cameras for detecting rice diseases like blast and blight. The system is integrated with an automatic alert mechanism for farmers.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a large training dataset and high computational power for real-time inference in remote areas.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2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1B0D-D7F5-40E2-6902-AB94B79F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16C7182-2771-4961-CF01-B2D3878688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6712" y="1362334"/>
            <a:ext cx="9634913" cy="488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Robot for Seeding Function and Leaf Detection[1]</a:t>
            </a:r>
          </a:p>
          <a:p>
            <a:pPr marL="457200" lvl="1" indent="0" algn="just" fontAlgn="base">
              <a:lnSpc>
                <a:spcPct val="100000"/>
              </a:lnSpc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task-specific, lacking scalability and adaptability across diverse crop types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IoT-Enabled Smart Irrigation System Using Soil Moisture and Weather Prediction for Sustainable Agriculture[2]</a:t>
            </a:r>
          </a:p>
          <a:p>
            <a:pPr marL="457200" lvl="1" indent="0" algn="just" fontAlgn="base">
              <a:lnSpc>
                <a:spcPct val="100000"/>
              </a:lnSpc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include plant disease detection or image analysis capabilities; focuses only on irrigation efficiency.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Learning-Driven IoT Framework for Early Detection of Plant Diseases in Rice Farming[3]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 fontAlgn="base">
              <a:lnSpc>
                <a:spcPct val="100000"/>
              </a:lnSpc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 large training dataset and high computational power for real-time inference in remote areas.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286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F1B541-7DE2-BCCE-2F2D-C3231A15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215D2-804D-319C-7286-30B57AA844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042" y="1448554"/>
            <a:ext cx="10291916" cy="433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 is used for real-time image analysis to detect rice leaf diseases.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the entire image in one pass, enabling fast and accurate disease identification.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monitor field conditions and motor status, sending real-time updates to the farmer via a mobile app.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by automating key farming operations.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minimizes resource wastage through data-driven irrigation and fertilization.</a:t>
            </a:r>
          </a:p>
          <a:p>
            <a:pPr marR="0" lvl="0" algn="just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improves crop health and increases agricultural yield.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172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2101"/>
            <a:ext cx="10515600" cy="8254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230003" y="1298799"/>
            <a:ext cx="9383853" cy="4448241"/>
            <a:chOff x="1347990" y="1755774"/>
            <a:chExt cx="9383853" cy="4520897"/>
          </a:xfrm>
        </p:grpSpPr>
        <p:cxnSp>
          <p:nvCxnSpPr>
            <p:cNvPr id="5" name="Straight Arrow Connector 4"/>
            <p:cNvCxnSpPr>
              <a:stCxn id="7" idx="2"/>
              <a:endCxn id="6" idx="0"/>
            </p:cNvCxnSpPr>
            <p:nvPr/>
          </p:nvCxnSpPr>
          <p:spPr>
            <a:xfrm>
              <a:off x="5882634" y="2441219"/>
              <a:ext cx="0" cy="4770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977005" y="2918298"/>
              <a:ext cx="1811258" cy="3293261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ARDUINO UNO ATMEGA328P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977005" y="1755774"/>
              <a:ext cx="1811257" cy="685445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SUPPLY 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35273" y="2914491"/>
              <a:ext cx="1409972" cy="564654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LCD</a:t>
              </a:r>
            </a:p>
          </p:txBody>
        </p:sp>
        <p:cxnSp>
          <p:nvCxnSpPr>
            <p:cNvPr id="9" name="Straight Arrow Connector 8"/>
            <p:cNvCxnSpPr>
              <a:endCxn id="8" idx="1"/>
            </p:cNvCxnSpPr>
            <p:nvPr/>
          </p:nvCxnSpPr>
          <p:spPr>
            <a:xfrm>
              <a:off x="6793060" y="3196818"/>
              <a:ext cx="542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2704071" y="3849206"/>
              <a:ext cx="1760984" cy="62314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TEMPERATURE SENSOR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4364378" y="3226063"/>
              <a:ext cx="5775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3235963" y="2914491"/>
              <a:ext cx="1351202" cy="62314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PC</a:t>
              </a:r>
            </a:p>
          </p:txBody>
        </p:sp>
        <p:cxnSp>
          <p:nvCxnSpPr>
            <p:cNvPr id="13" name="Straight Arrow Connector 12"/>
            <p:cNvCxnSpPr>
              <a:stCxn id="10" idx="3"/>
            </p:cNvCxnSpPr>
            <p:nvPr/>
          </p:nvCxnSpPr>
          <p:spPr>
            <a:xfrm>
              <a:off x="4465055" y="4160778"/>
              <a:ext cx="5440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7335273" y="3849206"/>
              <a:ext cx="1409972" cy="564654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IOT</a:t>
              </a:r>
            </a:p>
          </p:txBody>
        </p:sp>
        <p:cxnSp>
          <p:nvCxnSpPr>
            <p:cNvPr id="15" name="Straight Arrow Connector 14"/>
            <p:cNvCxnSpPr>
              <a:endCxn id="14" idx="1"/>
            </p:cNvCxnSpPr>
            <p:nvPr/>
          </p:nvCxnSpPr>
          <p:spPr>
            <a:xfrm>
              <a:off x="6793060" y="4131533"/>
              <a:ext cx="542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2704071" y="4718811"/>
              <a:ext cx="1760984" cy="62314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ULTRASONIC SENSOR</a:t>
              </a:r>
            </a:p>
          </p:txBody>
        </p:sp>
        <p:cxnSp>
          <p:nvCxnSpPr>
            <p:cNvPr id="17" name="Straight Arrow Connector 16"/>
            <p:cNvCxnSpPr>
              <a:stCxn id="16" idx="3"/>
            </p:cNvCxnSpPr>
            <p:nvPr/>
          </p:nvCxnSpPr>
          <p:spPr>
            <a:xfrm>
              <a:off x="4465055" y="5030383"/>
              <a:ext cx="5440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2704071" y="5653528"/>
              <a:ext cx="1760984" cy="62314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MOISTURE SENSOR</a:t>
              </a:r>
            </a:p>
          </p:txBody>
        </p:sp>
        <p:cxnSp>
          <p:nvCxnSpPr>
            <p:cNvPr id="19" name="Straight Arrow Connector 18"/>
            <p:cNvCxnSpPr>
              <a:stCxn id="18" idx="3"/>
            </p:cNvCxnSpPr>
            <p:nvPr/>
          </p:nvCxnSpPr>
          <p:spPr>
            <a:xfrm>
              <a:off x="4465055" y="5965100"/>
              <a:ext cx="5440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7337179" y="4718811"/>
              <a:ext cx="1409972" cy="564654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RELAY </a:t>
              </a:r>
            </a:p>
          </p:txBody>
        </p:sp>
        <p:cxnSp>
          <p:nvCxnSpPr>
            <p:cNvPr id="21" name="Straight Arrow Connector 20"/>
            <p:cNvCxnSpPr>
              <a:endCxn id="20" idx="1"/>
            </p:cNvCxnSpPr>
            <p:nvPr/>
          </p:nvCxnSpPr>
          <p:spPr>
            <a:xfrm>
              <a:off x="6794966" y="5001138"/>
              <a:ext cx="542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7350081" y="5646905"/>
              <a:ext cx="1409972" cy="564654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RELAY</a:t>
              </a:r>
            </a:p>
          </p:txBody>
        </p:sp>
        <p:cxnSp>
          <p:nvCxnSpPr>
            <p:cNvPr id="23" name="Straight Arrow Connector 22"/>
            <p:cNvCxnSpPr>
              <a:endCxn id="22" idx="1"/>
            </p:cNvCxnSpPr>
            <p:nvPr/>
          </p:nvCxnSpPr>
          <p:spPr>
            <a:xfrm>
              <a:off x="6807868" y="5929232"/>
              <a:ext cx="542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9289364" y="4718811"/>
              <a:ext cx="1409972" cy="564654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FERTILIZER SPREYER</a:t>
              </a:r>
            </a:p>
          </p:txBody>
        </p:sp>
        <p:cxnSp>
          <p:nvCxnSpPr>
            <p:cNvPr id="25" name="Straight Arrow Connector 24"/>
            <p:cNvCxnSpPr>
              <a:endCxn id="24" idx="1"/>
            </p:cNvCxnSpPr>
            <p:nvPr/>
          </p:nvCxnSpPr>
          <p:spPr>
            <a:xfrm>
              <a:off x="8747151" y="5001138"/>
              <a:ext cx="542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321871" y="5646905"/>
              <a:ext cx="1409972" cy="564654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WATER MOTOR</a:t>
              </a:r>
            </a:p>
          </p:txBody>
        </p:sp>
        <p:cxnSp>
          <p:nvCxnSpPr>
            <p:cNvPr id="27" name="Straight Arrow Connector 26"/>
            <p:cNvCxnSpPr>
              <a:endCxn id="26" idx="1"/>
            </p:cNvCxnSpPr>
            <p:nvPr/>
          </p:nvCxnSpPr>
          <p:spPr>
            <a:xfrm>
              <a:off x="8779658" y="5929232"/>
              <a:ext cx="542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1347990" y="1795614"/>
              <a:ext cx="1346200" cy="62314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LEAF DISEASE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920182" y="1795614"/>
              <a:ext cx="1959656" cy="62314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HYPERSPECTRAL CAMERA</a:t>
              </a:r>
            </a:p>
          </p:txBody>
        </p:sp>
        <p:cxnSp>
          <p:nvCxnSpPr>
            <p:cNvPr id="30" name="Straight Arrow Connector 29"/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2694190" y="2107186"/>
              <a:ext cx="225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33" name="Straight Arrow Connector 32"/>
            <p:cNvCxnSpPr>
              <a:cxnSpLocks/>
              <a:stCxn id="29" idx="2"/>
              <a:endCxn id="12" idx="0"/>
            </p:cNvCxnSpPr>
            <p:nvPr/>
          </p:nvCxnSpPr>
          <p:spPr>
            <a:xfrm>
              <a:off x="3900010" y="2418756"/>
              <a:ext cx="11554" cy="495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83D0A569-7FDA-FD8C-2FE9-3C9B9081A2BD}"/>
              </a:ext>
            </a:extLst>
          </p:cNvPr>
          <p:cNvSpPr txBox="1">
            <a:spLocks/>
          </p:cNvSpPr>
          <p:nvPr/>
        </p:nvSpPr>
        <p:spPr>
          <a:xfrm>
            <a:off x="624833" y="5936791"/>
            <a:ext cx="10515600" cy="825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Block Diagram of the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2890075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931F-2E38-85A4-615B-3CE4B2C7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56792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097E211-65EF-3D97-62B1-3106E39F4A3B}"/>
              </a:ext>
            </a:extLst>
          </p:cNvPr>
          <p:cNvSpPr txBox="1">
            <a:spLocks/>
          </p:cNvSpPr>
          <p:nvPr/>
        </p:nvSpPr>
        <p:spPr>
          <a:xfrm>
            <a:off x="624833" y="5936791"/>
            <a:ext cx="10515600" cy="825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Result of the Proposed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D07101-431F-C051-30C7-8D50CEED9D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755" y="1253358"/>
            <a:ext cx="2833209" cy="4587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76E713-FA98-92B2-0E17-AB1E0E3B7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472" y="1253358"/>
            <a:ext cx="3254961" cy="4587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50C7F8-29C9-6A01-BE16-F9CCDF3227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158" y="1253358"/>
            <a:ext cx="2833209" cy="45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22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0295"/>
            <a:ext cx="10515600" cy="51943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0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Efficiency: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water and fertilizer use, reducing wastage and lowering operational costs.</a:t>
            </a:r>
          </a:p>
          <a:p>
            <a:pPr algn="just">
              <a:lnSpc>
                <a:spcPct val="10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Crop Health: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diseases early and provides tailored fertilizer recommendations, leading to healthier crops.</a:t>
            </a:r>
          </a:p>
          <a:p>
            <a:pPr algn="just">
              <a:lnSpc>
                <a:spcPct val="10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environmental impact by reducing water consumption and chemical overuse.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APPLICATIONS</a:t>
            </a:r>
          </a:p>
          <a:p>
            <a:pPr algn="just">
              <a:lnSpc>
                <a:spcPct val="10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Irrigation: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irrigation based on real-time soil moisture and water level data.</a:t>
            </a:r>
          </a:p>
          <a:p>
            <a:pPr algn="just">
              <a:lnSpc>
                <a:spcPct val="10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Health Monitoring: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diagnoses crop diseases, providing early intervention for better yields.</a:t>
            </a:r>
          </a:p>
          <a:p>
            <a:pPr algn="just">
              <a:lnSpc>
                <a:spcPct val="10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Fertilization: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targeted fertilizer application to enhance growth and yield based on soil and crop conditions.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338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BA46-3BB4-A5FB-6ED2-27941455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MODULE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A9CC02-D770-B509-D4BA-E73895087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23" y="1494503"/>
            <a:ext cx="9674942" cy="5181600"/>
          </a:xfrm>
        </p:spPr>
      </p:pic>
    </p:spTree>
    <p:extLst>
      <p:ext uri="{BB962C8B-B14F-4D97-AF65-F5344CB8AC3E}">
        <p14:creationId xmlns:p14="http://schemas.microsoft.com/office/powerpoint/2010/main" val="1670578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2101"/>
            <a:ext cx="10515600" cy="8254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C6702E-4847-F660-DAD5-655D03AA43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7522" y="1266739"/>
            <a:ext cx="10164097" cy="2564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IoT, automation, and machine learning(YOLO) to optimize farming and crop health.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IoT-enabled sensors ensure precise irrigation, fertilization, and early disease detection.</a:t>
            </a:r>
          </a:p>
          <a:p>
            <a:pPr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water and fertilizer waste, increases crop yield, and promotes sustainable, scalable agriculture.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92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2101"/>
            <a:ext cx="10515600" cy="8254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2700"/>
            <a:ext cx="10515600" cy="5194300"/>
          </a:xfrm>
        </p:spPr>
        <p:txBody>
          <a:bodyPr>
            <a:normAutofit fontScale="92500" lnSpcReduction="10000"/>
          </a:bodyPr>
          <a:lstStyle/>
          <a:p>
            <a:pPr marL="457200" indent="-457200" algn="just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Lokanandam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K S Sai Ganesh, Mohit N Raate, Nithin T N, Pavan G and S Prof. Nithya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"Precision Agriculture robot for seeding function and Leaf Detection", International Journal of Engineering Research &amp; Technology (IJERT), vol. 9, no. 08, August 2020.</a:t>
            </a:r>
          </a:p>
          <a:p>
            <a:pPr marL="457200" indent="-457200" algn="just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P.A.H. Vardhini and M.L. Makkena, "Design and Comparative Analysis of On-Chip Sigma Delta ADC for Signal Processing Applications,“ International Journal of Engineering Research &amp; Technology (IJERT),Vol. 24, 2021.</a:t>
            </a:r>
          </a:p>
          <a:p>
            <a:pPr marL="457200" indent="-457200" algn="just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T., Verma A., Srinivasan P., “IoT-Enabled Smart Irrigation System Using Soil Moisture and Weather Prediction”, Int. J.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 (IJECE), 2022.</a:t>
            </a:r>
          </a:p>
          <a:p>
            <a:pPr marL="457200" indent="-457200" algn="just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Meenakshi R., Rajendran V., “IoT-Based Smart Farming System for Disease Detection and Irrigation”, IJACSA, 2023.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Sharma, K. Anand, and M. Thomas, “Deep Learning-Driven IoT Framework for Early Detection of Plant Diseases in Rice Farming,” in IEEE Internet of Things Journal, vol. 11, no. 2, pp. 988–996, 2024.</a:t>
            </a:r>
          </a:p>
        </p:txBody>
      </p:sp>
    </p:spTree>
    <p:extLst>
      <p:ext uri="{BB962C8B-B14F-4D97-AF65-F5344CB8AC3E}">
        <p14:creationId xmlns:p14="http://schemas.microsoft.com/office/powerpoint/2010/main" val="33405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1267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    IOT-BASED SMART IRRIGATION AND PLANT DISEASE DETECTION FOR SUSTAINABLE FARMING  </vt:lpstr>
      <vt:lpstr>ABSTRACT</vt:lpstr>
      <vt:lpstr>INTRODUCTION</vt:lpstr>
      <vt:lpstr>OBJECTIVE </vt:lpstr>
      <vt:lpstr>LITERATURE SURVEY</vt:lpstr>
      <vt:lpstr>LITERATURE SURVEY</vt:lpstr>
      <vt:lpstr>LITERATURE SURVEY</vt:lpstr>
      <vt:lpstr>PROBLEM STATEMENT</vt:lpstr>
      <vt:lpstr>PowerPoint Presentation</vt:lpstr>
      <vt:lpstr>BLOCK DIAGRAM</vt:lpstr>
      <vt:lpstr>RESULT</vt:lpstr>
      <vt:lpstr>PowerPoint Presentation</vt:lpstr>
      <vt:lpstr>WORK MODULE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Sandheep S</cp:lastModifiedBy>
  <cp:revision>103</cp:revision>
  <dcterms:created xsi:type="dcterms:W3CDTF">2025-01-06T12:06:45Z</dcterms:created>
  <dcterms:modified xsi:type="dcterms:W3CDTF">2025-11-20T06:59:53Z</dcterms:modified>
</cp:coreProperties>
</file>